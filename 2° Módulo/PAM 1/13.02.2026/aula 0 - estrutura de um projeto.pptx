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300" r:id="rId23"/>
    <p:sldId id="301" r:id="rId24"/>
    <p:sldId id="299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57C1C79B-9C2E-4AE7-85DC-92346E33200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Seção sem Título" id="{491BBC9A-7117-41B3-8B91-2762EC19B847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300"/>
            <p14:sldId id="301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D9B51-7C1A-4FB7-D1A9-60D749E4E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754DA1-CE9B-1D32-19F7-1656952A2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58633F-6E4D-C441-1E4B-29B09497D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A11A32-8DF9-876A-5594-EEC3859F7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636D71-75ED-3F1B-8AD0-682CF75DE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5428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B9AB7-2DA4-836C-028B-9484B202D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D140C7-6025-CEF1-B8F8-555F4F8B2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79DCBC-ABA6-B0F1-0B70-1C1B24600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57C313-011F-9BF2-4534-9B64E3E4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279BE4-A841-65B8-828D-B3327533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265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22856-0264-E454-C807-55E99F31F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21F057-203E-CB40-AC63-5D727C15F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5F037E-BC6C-5428-9743-CE010FB45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20ADC5-A365-E944-DE50-F5886F6E6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19311B-C1BF-F82D-FAF8-9C973523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7995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B192BC-0401-E780-E337-7ED8AEBE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A5FAE1-DC21-5F13-45A2-D155791B4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196CE3-2A96-62FD-9E52-584584BD7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CE81D3-DF1A-5DF5-567F-CE69E5FA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6B3C76-331F-BCFF-69D5-23136B5D6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4ED7BC-8340-92CE-F8DC-92985C090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356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FE611-A26A-7D2E-DD11-227239AD8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3E73FB-EA44-627F-FDD2-D235FD7F0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480141-F1D7-CB1C-D83C-EEC548DA3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7269618-631A-5945-5D35-6D1DAE0E6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4C9BAFF-782C-89ED-3E27-1A1A0D3287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6F7EA9A-AC0C-9CC9-6F27-95E2E1F28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16AFA20-136C-2BE5-2B18-837487DA7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7929867-4A58-CF01-FDDA-C23FE66C5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7490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58D2E-DA73-8728-FB2D-7F93E7BEE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A248C25-3873-5E1C-FF34-D4C6D5E84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C40A41E-28FE-13BD-E08A-DFF78513A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19C3B6A-CAEC-D05E-8CED-43DAEEE67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724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7CF42DA-332A-8272-8577-51F5FD2EB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709541B-0BA2-3A6E-72CE-BCF45AC3E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8F7FFD-7165-7DE4-EA23-57A5B74A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3038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CBF8F5-6060-E031-931F-57EE65366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408708-DF25-DBA8-2036-73EBCFD50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E3792E2-99F8-DF7C-D624-C09E0C361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E36D67-40B9-EE70-3BD4-56A487241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E9E073-8886-3CB8-353B-15F886D8E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D4CE44-7299-333B-EC96-C93D1B485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6554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05FEC-2AF5-7C88-F279-9487F01B3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8DEC760-8B2B-6332-9D31-93E6B485D1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5C6BB9-3F21-F9F2-3819-E7C2AACA2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9C32DB-83E7-1C4E-2507-273F3F57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7F5DD8-E12D-94C6-5FA5-A08EAD76C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42DE7C-BC1B-2C99-1970-4CD45E1A4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724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633962-2CFE-2534-CE7E-3EE5C96E7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0AAEF27-C649-2E4F-7C29-9A99C9B14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1B7EA2-6BC0-0A81-AFF8-4B258D6D9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42FB2D-B46B-70A8-EC12-AF5612FC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ACD1F0-EFFB-CC0F-8705-B0171289F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3351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C77EE88-C082-9DFB-ACBE-70B4DBDEE2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D0E9C54-DB65-6065-A188-4BE2D1268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EDA61E-077C-78AA-7DE7-35F66D97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1AF51E-7A15-D7A5-7BAC-EE8DD49DA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650085-200A-F266-3989-E270176D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4155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857732E-574B-CD71-0BA8-C2EA07653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CE650E-89FB-71DC-8171-9E56A5DD4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F2481D-300C-CFE0-4E7C-D560F5B337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EB64B7-24D7-4137-921B-13BF95495E9C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881255-C861-ABD8-D16E-48C6BBF73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D5C648-0873-299F-9163-13274AE4D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3766F0-F091-41C4-974A-5AF9AA894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3003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6786E-1656-DA67-1D15-576F0AB97F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Estrutura de um projeto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4AB6AB-7E70-29D0-30EB-4E3599FA4E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2261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47727-EEA9-2DE8-A486-196079FC5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1912C8B-B8D3-8879-6D22-15868FB31444}"/>
              </a:ext>
            </a:extLst>
          </p:cNvPr>
          <p:cNvSpPr txBox="1"/>
          <p:nvPr/>
        </p:nvSpPr>
        <p:spPr>
          <a:xfrm>
            <a:off x="8752114" y="1465943"/>
            <a:ext cx="2601686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Passo 1:</a:t>
            </a:r>
          </a:p>
          <a:p>
            <a:r>
              <a:rPr lang="pt-BR" dirty="0"/>
              <a:t>Criar um novo projeto.</a:t>
            </a:r>
          </a:p>
          <a:p>
            <a:r>
              <a:rPr lang="pt-BR" dirty="0"/>
              <a:t>Nessa tela escolher </a:t>
            </a:r>
            <a:r>
              <a:rPr lang="pt-BR" b="1" dirty="0" err="1"/>
              <a:t>Empty</a:t>
            </a:r>
            <a:r>
              <a:rPr lang="pt-BR" b="1" dirty="0"/>
              <a:t> </a:t>
            </a:r>
            <a:r>
              <a:rPr lang="pt-BR" b="1" dirty="0" err="1"/>
              <a:t>Views</a:t>
            </a:r>
            <a:r>
              <a:rPr lang="pt-BR" b="1" dirty="0"/>
              <a:t> </a:t>
            </a:r>
            <a:r>
              <a:rPr lang="pt-BR" b="1" dirty="0" err="1"/>
              <a:t>Activity</a:t>
            </a:r>
            <a:r>
              <a:rPr lang="pt-BR" b="1" dirty="0"/>
              <a:t> </a:t>
            </a:r>
            <a:r>
              <a:rPr lang="pt-BR" dirty="0"/>
              <a:t> e clicar em </a:t>
            </a:r>
            <a:r>
              <a:rPr lang="pt-BR" dirty="0" err="1"/>
              <a:t>next</a:t>
            </a:r>
            <a:endParaRPr lang="pt-BR" dirty="0"/>
          </a:p>
        </p:txBody>
      </p:sp>
      <p:pic>
        <p:nvPicPr>
          <p:cNvPr id="10" name="Espaço Reservado para Conteúdo 9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2F6C65FB-09E9-2998-8DE6-E55E501C01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68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ECD40-FB15-3B69-CDCD-D8506C05E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FF98B-C972-2557-D722-62E9E46FA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8431BBF-3586-269A-78FD-9F1F3FDAD57F}"/>
              </a:ext>
            </a:extLst>
          </p:cNvPr>
          <p:cNvSpPr txBox="1"/>
          <p:nvPr/>
        </p:nvSpPr>
        <p:spPr>
          <a:xfrm>
            <a:off x="8752114" y="1465943"/>
            <a:ext cx="2601686" cy="4247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Preencher com o nome do aplicativo, sem acento.</a:t>
            </a:r>
          </a:p>
          <a:p>
            <a:r>
              <a:rPr lang="pt-BR" dirty="0"/>
              <a:t>Usar o pacote com seu nome.</a:t>
            </a:r>
          </a:p>
          <a:p>
            <a:r>
              <a:rPr lang="pt-BR" dirty="0"/>
              <a:t>Salvar no local padrão ou escolher outro.</a:t>
            </a:r>
          </a:p>
          <a:p>
            <a:r>
              <a:rPr lang="pt-BR" dirty="0"/>
              <a:t>Escolher a linguagem, </a:t>
            </a:r>
            <a:r>
              <a:rPr lang="pt-BR" dirty="0" err="1"/>
              <a:t>kotlin</a:t>
            </a:r>
            <a:r>
              <a:rPr lang="pt-BR" dirty="0"/>
              <a:t> ou </a:t>
            </a:r>
            <a:r>
              <a:rPr lang="pt-BR" dirty="0" err="1"/>
              <a:t>java</a:t>
            </a:r>
            <a:r>
              <a:rPr lang="pt-BR" dirty="0"/>
              <a:t>.</a:t>
            </a:r>
          </a:p>
          <a:p>
            <a:r>
              <a:rPr lang="pt-BR" dirty="0"/>
              <a:t>Usar uma api (versão do sistema operacional) compatível </a:t>
            </a:r>
          </a:p>
          <a:p>
            <a:r>
              <a:rPr lang="pt-BR" dirty="0"/>
              <a:t>Usar o </a:t>
            </a:r>
            <a:r>
              <a:rPr lang="pt-BR" dirty="0" err="1"/>
              <a:t>gradle</a:t>
            </a:r>
            <a:r>
              <a:rPr lang="pt-BR" dirty="0"/>
              <a:t> do </a:t>
            </a:r>
            <a:r>
              <a:rPr lang="pt-BR" dirty="0" err="1"/>
              <a:t>kotlin</a:t>
            </a:r>
            <a:endParaRPr lang="pt-BR" dirty="0"/>
          </a:p>
          <a:p>
            <a:r>
              <a:rPr lang="pt-BR" dirty="0"/>
              <a:t>Clicar em </a:t>
            </a:r>
            <a:r>
              <a:rPr lang="pt-BR" dirty="0" err="1"/>
              <a:t>finish</a:t>
            </a:r>
            <a:r>
              <a:rPr lang="pt-BR" dirty="0"/>
              <a:t> e aguardar.</a:t>
            </a:r>
          </a:p>
        </p:txBody>
      </p:sp>
      <p:pic>
        <p:nvPicPr>
          <p:cNvPr id="7" name="Espaço Reservado para Conteúdo 6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C0AF5DCE-544B-B447-F1A8-687911E726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308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2800D-851C-6C8E-FCA9-C953D3339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F072A-C292-7F61-7FED-9DC05EB71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DE02F12-90A5-D796-0D1E-C96855B8C444}"/>
              </a:ext>
            </a:extLst>
          </p:cNvPr>
          <p:cNvSpPr txBox="1"/>
          <p:nvPr/>
        </p:nvSpPr>
        <p:spPr>
          <a:xfrm>
            <a:off x="8752114" y="1465943"/>
            <a:ext cx="2601686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Observar a barra de progressão no </a:t>
            </a:r>
            <a:r>
              <a:rPr lang="pt-BR" dirty="0" err="1"/>
              <a:t>pe</a:t>
            </a:r>
            <a:r>
              <a:rPr lang="pt-BR" dirty="0"/>
              <a:t> da pagina.</a:t>
            </a:r>
          </a:p>
          <a:p>
            <a:r>
              <a:rPr lang="pt-BR" dirty="0"/>
              <a:t>Ela indica o que a IDE esta fazendo.</a:t>
            </a:r>
          </a:p>
        </p:txBody>
      </p:sp>
      <p:pic>
        <p:nvPicPr>
          <p:cNvPr id="6" name="Espaço Reservado para Conteúdo 5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05BA5ED2-0849-9C0A-5B64-755AC5544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237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0A89F-8B99-E508-8B90-BCB51E4AE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A8CFA-EE82-7A3D-250D-13D93A217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18E172D-BB73-827A-E7FE-C41A2D611B1A}"/>
              </a:ext>
            </a:extLst>
          </p:cNvPr>
          <p:cNvSpPr txBox="1"/>
          <p:nvPr/>
        </p:nvSpPr>
        <p:spPr>
          <a:xfrm>
            <a:off x="8752114" y="1465943"/>
            <a:ext cx="2601686" cy="4247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Ao termino do processo aparecera essa tela com dois arquivos abertos. </a:t>
            </a:r>
          </a:p>
          <a:p>
            <a:r>
              <a:rPr lang="pt-BR" dirty="0" err="1"/>
              <a:t>MainActivity.kt</a:t>
            </a:r>
            <a:r>
              <a:rPr lang="pt-BR" dirty="0"/>
              <a:t> e activitymain.xml</a:t>
            </a:r>
          </a:p>
          <a:p>
            <a:r>
              <a:rPr lang="pt-BR" dirty="0"/>
              <a:t>O </a:t>
            </a:r>
            <a:r>
              <a:rPr lang="pt-BR" dirty="0" err="1"/>
              <a:t>MainActivity</a:t>
            </a:r>
            <a:r>
              <a:rPr lang="pt-BR" dirty="0"/>
              <a:t> é o código, onde colocamos a logica do nosso projeto.</a:t>
            </a:r>
          </a:p>
          <a:p>
            <a:r>
              <a:rPr lang="pt-BR" dirty="0"/>
              <a:t>Ela é codificada em </a:t>
            </a:r>
            <a:r>
              <a:rPr lang="pt-BR" dirty="0" err="1"/>
              <a:t>kotlin</a:t>
            </a:r>
            <a:r>
              <a:rPr lang="pt-BR" dirty="0"/>
              <a:t> ou </a:t>
            </a:r>
            <a:r>
              <a:rPr lang="pt-BR" dirty="0" err="1"/>
              <a:t>java</a:t>
            </a:r>
            <a:r>
              <a:rPr lang="pt-BR" dirty="0"/>
              <a:t> dependendo de qual foi escolhida no momento da criação do projeto.</a:t>
            </a:r>
          </a:p>
        </p:txBody>
      </p:sp>
      <p:pic>
        <p:nvPicPr>
          <p:cNvPr id="6" name="Espaço Reservado para Conteúdo 5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FD02322-DF60-8BAB-7F14-30D1F0F87F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C985254-4ADA-D5E2-ADF8-34D4BF4A5242}"/>
              </a:ext>
            </a:extLst>
          </p:cNvPr>
          <p:cNvCxnSpPr>
            <a:cxnSpLocks/>
          </p:cNvCxnSpPr>
          <p:nvPr/>
        </p:nvCxnSpPr>
        <p:spPr>
          <a:xfrm flipH="1">
            <a:off x="4707944" y="1205144"/>
            <a:ext cx="1086573" cy="521597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629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4E127-C1E2-509C-0DE9-2F9AE8ED7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1523B1-E992-A56B-C429-838377E9B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BF3DE38-4F8A-6F32-FFB2-1D63AF67EDC3}"/>
              </a:ext>
            </a:extLst>
          </p:cNvPr>
          <p:cNvSpPr txBox="1"/>
          <p:nvPr/>
        </p:nvSpPr>
        <p:spPr>
          <a:xfrm>
            <a:off x="8752114" y="1465943"/>
            <a:ext cx="2601686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</a:t>
            </a:r>
            <a:r>
              <a:rPr lang="pt-BR" dirty="0" err="1"/>
              <a:t>activitymain</a:t>
            </a:r>
            <a:r>
              <a:rPr lang="pt-BR" dirty="0"/>
              <a:t> é onde desenhamos nossas telas.</a:t>
            </a:r>
          </a:p>
          <a:p>
            <a:r>
              <a:rPr lang="pt-BR" dirty="0"/>
              <a:t>Ela é codificada em </a:t>
            </a:r>
            <a:r>
              <a:rPr lang="pt-BR" dirty="0" err="1"/>
              <a:t>xml</a:t>
            </a:r>
            <a:r>
              <a:rPr lang="pt-BR" dirty="0"/>
              <a:t>, </a:t>
            </a:r>
          </a:p>
          <a:p>
            <a:r>
              <a:rPr lang="pt-BR" dirty="0"/>
              <a:t>Uma linguagem semelhante ao </a:t>
            </a:r>
            <a:r>
              <a:rPr lang="pt-BR" dirty="0" err="1"/>
              <a:t>html</a:t>
            </a:r>
            <a:r>
              <a:rPr lang="pt-BR" dirty="0"/>
              <a:t>. </a:t>
            </a:r>
          </a:p>
        </p:txBody>
      </p:sp>
      <p:pic>
        <p:nvPicPr>
          <p:cNvPr id="6" name="Espaço Reservado para Conteúdo 5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C0A6C446-66AF-CEA3-8584-CA1BE0C70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5F8F-41B2-DEB2-E9E3-9F4CE3CA8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Espaço Reservado para Conteúdo 2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8AA2120-964D-E92F-385B-F99826CC5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0903" y="1465943"/>
            <a:ext cx="7739489" cy="435133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F696E01-34C9-A497-3385-F632857D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19D8C8C-7528-1664-BBB8-8441B155D177}"/>
              </a:ext>
            </a:extLst>
          </p:cNvPr>
          <p:cNvSpPr txBox="1"/>
          <p:nvPr/>
        </p:nvSpPr>
        <p:spPr>
          <a:xfrm>
            <a:off x="8752114" y="1465943"/>
            <a:ext cx="2601686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Por padrão ela é dividida em seis partes. </a:t>
            </a:r>
          </a:p>
          <a:p>
            <a:r>
              <a:rPr lang="pt-BR" dirty="0"/>
              <a:t>1 – estrutura do projeto </a:t>
            </a:r>
          </a:p>
          <a:p>
            <a:r>
              <a:rPr lang="pt-BR" dirty="0"/>
              <a:t>2 – </a:t>
            </a:r>
            <a:r>
              <a:rPr lang="pt-BR" dirty="0" err="1"/>
              <a:t>palette</a:t>
            </a:r>
            <a:r>
              <a:rPr lang="pt-BR" dirty="0"/>
              <a:t> - usado para inserir elementos na tela</a:t>
            </a:r>
          </a:p>
          <a:p>
            <a:r>
              <a:rPr lang="pt-BR" dirty="0"/>
              <a:t>3 - componente </a:t>
            </a:r>
            <a:r>
              <a:rPr lang="pt-BR" dirty="0" err="1"/>
              <a:t>tree</a:t>
            </a:r>
            <a:r>
              <a:rPr lang="pt-BR" dirty="0"/>
              <a:t> – mostra os elementos que estão na tela.</a:t>
            </a:r>
          </a:p>
          <a:p>
            <a:r>
              <a:rPr lang="pt-BR" dirty="0"/>
              <a:t>4 – renderização da tela</a:t>
            </a:r>
          </a:p>
          <a:p>
            <a:r>
              <a:rPr lang="pt-BR" dirty="0"/>
              <a:t>5 – atributos – configurações de cada elemento na tela. </a:t>
            </a:r>
          </a:p>
          <a:p>
            <a:r>
              <a:rPr lang="pt-BR" dirty="0"/>
              <a:t>6 – modo de visualização da tela código/design</a:t>
            </a:r>
          </a:p>
        </p:txBody>
      </p:sp>
      <p:sp>
        <p:nvSpPr>
          <p:cNvPr id="15" name="Fluxograma: Conector 14">
            <a:extLst>
              <a:ext uri="{FF2B5EF4-FFF2-40B4-BE49-F238E27FC236}">
                <a16:creationId xmlns:a16="http://schemas.microsoft.com/office/drawing/2014/main" id="{51662CD1-58B3-4B36-7AF8-D4598E9FC0C3}"/>
              </a:ext>
            </a:extLst>
          </p:cNvPr>
          <p:cNvSpPr/>
          <p:nvPr/>
        </p:nvSpPr>
        <p:spPr>
          <a:xfrm>
            <a:off x="3610303" y="1866160"/>
            <a:ext cx="472965" cy="43355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16" name="Fluxograma: Conector 15">
            <a:extLst>
              <a:ext uri="{FF2B5EF4-FFF2-40B4-BE49-F238E27FC236}">
                <a16:creationId xmlns:a16="http://schemas.microsoft.com/office/drawing/2014/main" id="{3768FB01-80F9-696F-E008-28430CD79ACA}"/>
              </a:ext>
            </a:extLst>
          </p:cNvPr>
          <p:cNvSpPr/>
          <p:nvPr/>
        </p:nvSpPr>
        <p:spPr>
          <a:xfrm>
            <a:off x="1051036" y="2278692"/>
            <a:ext cx="472965" cy="43355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7" name="Fluxograma: Conector 16">
            <a:extLst>
              <a:ext uri="{FF2B5EF4-FFF2-40B4-BE49-F238E27FC236}">
                <a16:creationId xmlns:a16="http://schemas.microsoft.com/office/drawing/2014/main" id="{B5E3F1AD-2409-5F72-0B99-B09571984393}"/>
              </a:ext>
            </a:extLst>
          </p:cNvPr>
          <p:cNvSpPr/>
          <p:nvPr/>
        </p:nvSpPr>
        <p:spPr>
          <a:xfrm>
            <a:off x="7179813" y="2574730"/>
            <a:ext cx="472965" cy="43355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sp>
        <p:nvSpPr>
          <p:cNvPr id="18" name="Fluxograma: Conector 17">
            <a:extLst>
              <a:ext uri="{FF2B5EF4-FFF2-40B4-BE49-F238E27FC236}">
                <a16:creationId xmlns:a16="http://schemas.microsoft.com/office/drawing/2014/main" id="{CD93B4BE-1422-AE45-5DDD-F61BB8206DA9}"/>
              </a:ext>
            </a:extLst>
          </p:cNvPr>
          <p:cNvSpPr/>
          <p:nvPr/>
        </p:nvSpPr>
        <p:spPr>
          <a:xfrm>
            <a:off x="6385035" y="3208060"/>
            <a:ext cx="472965" cy="43355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9" name="Fluxograma: Conector 18">
            <a:extLst>
              <a:ext uri="{FF2B5EF4-FFF2-40B4-BE49-F238E27FC236}">
                <a16:creationId xmlns:a16="http://schemas.microsoft.com/office/drawing/2014/main" id="{831FD6C6-7A98-A9ED-16B1-259BAD5A1FB3}"/>
              </a:ext>
            </a:extLst>
          </p:cNvPr>
          <p:cNvSpPr/>
          <p:nvPr/>
        </p:nvSpPr>
        <p:spPr>
          <a:xfrm>
            <a:off x="3373820" y="4550406"/>
            <a:ext cx="472965" cy="43355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24" name="Fluxograma: Conector 23">
            <a:extLst>
              <a:ext uri="{FF2B5EF4-FFF2-40B4-BE49-F238E27FC236}">
                <a16:creationId xmlns:a16="http://schemas.microsoft.com/office/drawing/2014/main" id="{61F87137-B913-D8C5-2546-453E084550C8}"/>
              </a:ext>
            </a:extLst>
          </p:cNvPr>
          <p:cNvSpPr/>
          <p:nvPr/>
        </p:nvSpPr>
        <p:spPr>
          <a:xfrm>
            <a:off x="7652778" y="1344872"/>
            <a:ext cx="472965" cy="43355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293623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F9A9B-431F-F8C3-625A-5B0395D52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2C46D8-C07F-3846-FF8F-A0087F96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E40B726-3293-4F3A-3A60-411171C4CAFF}"/>
              </a:ext>
            </a:extLst>
          </p:cNvPr>
          <p:cNvSpPr txBox="1"/>
          <p:nvPr/>
        </p:nvSpPr>
        <p:spPr>
          <a:xfrm>
            <a:off x="8752114" y="1465943"/>
            <a:ext cx="26016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Modo </a:t>
            </a:r>
            <a:r>
              <a:rPr lang="pt-BR" dirty="0" err="1"/>
              <a:t>code</a:t>
            </a:r>
            <a:r>
              <a:rPr lang="pt-BR" dirty="0"/>
              <a:t> – visualização do </a:t>
            </a:r>
            <a:r>
              <a:rPr lang="pt-BR" dirty="0" err="1"/>
              <a:t>codigo</a:t>
            </a:r>
            <a:endParaRPr lang="pt-BR" dirty="0"/>
          </a:p>
        </p:txBody>
      </p:sp>
      <p:pic>
        <p:nvPicPr>
          <p:cNvPr id="6" name="Espaço Reservado para Conteúdo 5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63D4D3F-F534-D632-A0D6-E6DCDC48B6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74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B0C33-607B-578E-8F37-3E9F16CC3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05676-645B-8006-493B-5F93E539F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D1D36E9-DEA0-FE56-3574-6C75A10F45B4}"/>
              </a:ext>
            </a:extLst>
          </p:cNvPr>
          <p:cNvSpPr txBox="1"/>
          <p:nvPr/>
        </p:nvSpPr>
        <p:spPr>
          <a:xfrm>
            <a:off x="8752114" y="1465943"/>
            <a:ext cx="2601686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Visualizacao</a:t>
            </a:r>
            <a:r>
              <a:rPr lang="pt-BR" dirty="0"/>
              <a:t> design – como a tela </a:t>
            </a:r>
            <a:r>
              <a:rPr lang="pt-BR" dirty="0" err="1"/>
              <a:t>sera</a:t>
            </a:r>
            <a:r>
              <a:rPr lang="pt-BR" dirty="0"/>
              <a:t> renderizada</a:t>
            </a:r>
          </a:p>
        </p:txBody>
      </p:sp>
      <p:pic>
        <p:nvPicPr>
          <p:cNvPr id="6" name="Espaço Reservado para Conteúdo 5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4C222D82-A0E2-F75F-35C5-012B9A4C74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89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B783D-E6DD-0CAA-F4F5-C0EF3DA98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4FA06-6480-24C6-6685-82DC7E183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38421AC-A076-F78A-C3A9-EF8E9E4009BD}"/>
              </a:ext>
            </a:extLst>
          </p:cNvPr>
          <p:cNvSpPr txBox="1"/>
          <p:nvPr/>
        </p:nvSpPr>
        <p:spPr>
          <a:xfrm>
            <a:off x="8752114" y="1465943"/>
            <a:ext cx="26016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Split – código e resultado na tela.</a:t>
            </a:r>
          </a:p>
        </p:txBody>
      </p:sp>
      <p:pic>
        <p:nvPicPr>
          <p:cNvPr id="6" name="Espaço Reservado para Conteúdo 5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4B078C2A-E167-B357-0BD8-391EE2EBA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398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1BE83-7F22-67E8-1448-0D70C7942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FB8CA-08C6-35B9-DF74-BF6930C1B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169CCB8-0EFB-D0EA-5365-710A4F810DCB}"/>
              </a:ext>
            </a:extLst>
          </p:cNvPr>
          <p:cNvSpPr txBox="1"/>
          <p:nvPr/>
        </p:nvSpPr>
        <p:spPr>
          <a:xfrm>
            <a:off x="8752114" y="825456"/>
            <a:ext cx="2601686" cy="56323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MainActivity</a:t>
            </a:r>
            <a:r>
              <a:rPr lang="pt-BR" dirty="0"/>
              <a:t>. É aqui que codificamos nossos aplicativos.</a:t>
            </a:r>
          </a:p>
          <a:p>
            <a:r>
              <a:rPr lang="pt-BR" dirty="0"/>
              <a:t>Ele tem uma classe </a:t>
            </a:r>
            <a:r>
              <a:rPr lang="pt-BR" dirty="0" err="1"/>
              <a:t>main</a:t>
            </a:r>
            <a:r>
              <a:rPr lang="pt-BR" dirty="0"/>
              <a:t> que roda o método </a:t>
            </a:r>
            <a:r>
              <a:rPr lang="pt-BR" dirty="0" err="1"/>
              <a:t>onCreate</a:t>
            </a:r>
            <a:r>
              <a:rPr lang="pt-BR" dirty="0"/>
              <a:t> entre outras coisas.. Esse é o primeiro método que roda ao abrirmos um app.</a:t>
            </a:r>
          </a:p>
          <a:p>
            <a:r>
              <a:rPr lang="pt-BR" dirty="0"/>
              <a:t>Dentro dele colocamos os métodos que queremos que o aplicativo faca, tipo trocar de tela.</a:t>
            </a:r>
          </a:p>
          <a:p>
            <a:r>
              <a:rPr lang="pt-BR" dirty="0"/>
              <a:t>Fora dele podemos ter outros métodos.</a:t>
            </a:r>
          </a:p>
          <a:p>
            <a:r>
              <a:rPr lang="pt-BR" dirty="0"/>
              <a:t>Aqui entre outras coisas esta rodando a </a:t>
            </a:r>
            <a:r>
              <a:rPr lang="pt-BR" dirty="0" err="1"/>
              <a:t>activitymain</a:t>
            </a:r>
            <a:r>
              <a:rPr lang="pt-BR" dirty="0"/>
              <a:t>.</a:t>
            </a:r>
          </a:p>
        </p:txBody>
      </p:sp>
      <p:pic>
        <p:nvPicPr>
          <p:cNvPr id="6" name="Espaço Reservado para Conteúdo 5" descr="Texto&#10;&#10;O conteúdo gerado por IA pode estar incorreto.">
            <a:extLst>
              <a:ext uri="{FF2B5EF4-FFF2-40B4-BE49-F238E27FC236}">
                <a16:creationId xmlns:a16="http://schemas.microsoft.com/office/drawing/2014/main" id="{8723E1B2-580D-3AE8-67A0-D6D054D2F4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081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3DE55-6FA7-F210-8041-F78FA4C90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690393-5362-8794-FD93-B61590AE7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1470280-F586-D017-3F64-9580D94A66BF}"/>
              </a:ext>
            </a:extLst>
          </p:cNvPr>
          <p:cNvSpPr txBox="1"/>
          <p:nvPr/>
        </p:nvSpPr>
        <p:spPr>
          <a:xfrm>
            <a:off x="8752114" y="1465943"/>
            <a:ext cx="2601686" cy="4247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Estrutura básica de um projeto.</a:t>
            </a:r>
          </a:p>
          <a:p>
            <a:r>
              <a:rPr lang="pt-BR" dirty="0"/>
              <a:t>Pasta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principal</a:t>
            </a:r>
            <a:r>
              <a:rPr lang="pt-BR" dirty="0"/>
              <a:t> onde fica o </a:t>
            </a:r>
            <a:r>
              <a:rPr lang="pt-BR" dirty="0" err="1"/>
              <a:t>MainActivity</a:t>
            </a:r>
            <a:endParaRPr lang="pt-BR" dirty="0"/>
          </a:p>
          <a:p>
            <a:r>
              <a:rPr lang="pt-BR" dirty="0"/>
              <a:t>Pasta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</a:t>
            </a:r>
            <a:r>
              <a:rPr lang="pt-BR" dirty="0"/>
              <a:t> onde ficam os recursos do sistema.</a:t>
            </a:r>
          </a:p>
          <a:p>
            <a:r>
              <a:rPr lang="pt-BR" dirty="0"/>
              <a:t>Dentro dela temos a pasta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layout</a:t>
            </a:r>
            <a:r>
              <a:rPr lang="pt-BR" dirty="0"/>
              <a:t> onde ficam normalmente os layouts, por isso a </a:t>
            </a:r>
            <a:r>
              <a:rPr lang="pt-BR" dirty="0" err="1"/>
              <a:t>mainactivity</a:t>
            </a:r>
            <a:r>
              <a:rPr lang="pt-BR" dirty="0"/>
              <a:t> esta </a:t>
            </a:r>
            <a:r>
              <a:rPr lang="pt-BR" dirty="0" err="1"/>
              <a:t>la</a:t>
            </a:r>
            <a:r>
              <a:rPr lang="pt-BR" dirty="0"/>
              <a:t> dentro.</a:t>
            </a:r>
          </a:p>
          <a:p>
            <a:r>
              <a:rPr lang="pt-BR" dirty="0"/>
              <a:t>Podemos criar outras estruturas, pastas recursos.</a:t>
            </a:r>
          </a:p>
        </p:txBody>
      </p:sp>
      <p:pic>
        <p:nvPicPr>
          <p:cNvPr id="6" name="Espaço Reservado para Conteúdo 5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9572CB8-2B7A-EBC1-7B09-5E063D55F5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8FEDE-1530-3320-D40D-A5D36AD62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8E5FF-FE19-1028-A03D-73D6D3CAF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7AF2E12-8541-6D8C-3F5F-D13F7C39DEF5}"/>
              </a:ext>
            </a:extLst>
          </p:cNvPr>
          <p:cNvSpPr txBox="1"/>
          <p:nvPr/>
        </p:nvSpPr>
        <p:spPr>
          <a:xfrm>
            <a:off x="8752114" y="1465943"/>
            <a:ext cx="2601686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Dentro do layout temos apenas um elemento de texto, um </a:t>
            </a:r>
            <a:r>
              <a:rPr lang="pt-BR" dirty="0" err="1"/>
              <a:t>TextView</a:t>
            </a:r>
            <a:r>
              <a:rPr lang="pt-BR" dirty="0"/>
              <a:t>,</a:t>
            </a:r>
          </a:p>
          <a:p>
            <a:r>
              <a:rPr lang="pt-BR" dirty="0"/>
              <a:t>Cada elemento tem propriedades que podem ser configuradas, como cor, tamanho, textura entre outros.</a:t>
            </a:r>
          </a:p>
          <a:p>
            <a:r>
              <a:rPr lang="pt-BR" dirty="0"/>
              <a:t>Aqui alterei o texto e o tamanho da letra.</a:t>
            </a:r>
          </a:p>
        </p:txBody>
      </p:sp>
      <p:pic>
        <p:nvPicPr>
          <p:cNvPr id="6" name="Espaço Reservado para Conteúdo 5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5436A9EC-31B3-D83F-B5E3-5262EF017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147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09B06-B2B2-5EC7-E5D4-824BC155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386D93-88F8-81FD-4635-EED3CAB98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4D5DAE-3A46-D3E6-0A2D-820F8F81CEA7}"/>
              </a:ext>
            </a:extLst>
          </p:cNvPr>
          <p:cNvSpPr txBox="1"/>
          <p:nvPr/>
        </p:nvSpPr>
        <p:spPr>
          <a:xfrm>
            <a:off x="8752114" y="1465943"/>
            <a:ext cx="26016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Podemos alterar via código ou via design.</a:t>
            </a:r>
          </a:p>
        </p:txBody>
      </p:sp>
      <p:pic>
        <p:nvPicPr>
          <p:cNvPr id="6" name="Espaço Reservado para Conteúdo 5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A403F33F-96D6-FE8D-C575-A49BF3380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122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48A75-BF2C-DABF-D93E-41C499CB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1B877-F4E6-0D6A-08DD-8034994C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A7AB995-6EA7-76CD-FF4C-58C255CC4FE8}"/>
              </a:ext>
            </a:extLst>
          </p:cNvPr>
          <p:cNvSpPr txBox="1"/>
          <p:nvPr/>
        </p:nvSpPr>
        <p:spPr>
          <a:xfrm>
            <a:off x="8752114" y="1465943"/>
            <a:ext cx="2601686" cy="4247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Podemos também alterar a própria tela, colocando cores, pano de </a:t>
            </a:r>
            <a:r>
              <a:rPr lang="pt-BR" dirty="0" err="1"/>
              <a:t>funto</a:t>
            </a:r>
            <a:r>
              <a:rPr lang="pt-BR" dirty="0"/>
              <a:t>, imagens, texturas etc.</a:t>
            </a:r>
          </a:p>
          <a:p>
            <a:r>
              <a:rPr lang="pt-BR" dirty="0"/>
              <a:t>1 - tela com suas configurações</a:t>
            </a:r>
          </a:p>
          <a:p>
            <a:r>
              <a:rPr lang="pt-BR" dirty="0"/>
              <a:t>2 – elemento </a:t>
            </a:r>
            <a:r>
              <a:rPr lang="pt-BR" dirty="0" err="1"/>
              <a:t>TextView</a:t>
            </a:r>
            <a:r>
              <a:rPr lang="pt-BR" dirty="0"/>
              <a:t> com suas configurações.</a:t>
            </a:r>
          </a:p>
          <a:p>
            <a:r>
              <a:rPr lang="pt-BR" dirty="0"/>
              <a:t>Os elementos ficam </a:t>
            </a:r>
            <a:r>
              <a:rPr lang="pt-BR" dirty="0" err="1"/>
              <a:t>tentro</a:t>
            </a:r>
            <a:r>
              <a:rPr lang="pt-BR" dirty="0"/>
              <a:t> de </a:t>
            </a:r>
            <a:r>
              <a:rPr lang="pt-BR" dirty="0" err="1"/>
              <a:t>tags</a:t>
            </a:r>
            <a:r>
              <a:rPr lang="pt-BR" dirty="0"/>
              <a:t> que se abrem com sinal de </a:t>
            </a:r>
            <a:r>
              <a:rPr lang="pt-BR" b="1" dirty="0"/>
              <a:t>“&lt;“</a:t>
            </a:r>
            <a:r>
              <a:rPr lang="pt-BR" dirty="0"/>
              <a:t> menor e se fecham com sinal de  maior </a:t>
            </a:r>
            <a:r>
              <a:rPr lang="pt-BR" b="1" dirty="0"/>
              <a:t>“/&gt;”</a:t>
            </a:r>
            <a:endParaRPr lang="pt-BR" dirty="0"/>
          </a:p>
        </p:txBody>
      </p:sp>
      <p:pic>
        <p:nvPicPr>
          <p:cNvPr id="6" name="Espaço Reservado para Conteúdo 5" descr="Texto&#10;&#10;O conteúdo gerado por IA pode estar incorreto.">
            <a:extLst>
              <a:ext uri="{FF2B5EF4-FFF2-40B4-BE49-F238E27FC236}">
                <a16:creationId xmlns:a16="http://schemas.microsoft.com/office/drawing/2014/main" id="{567325ED-0D5E-9D3E-B22B-D5E450FA17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  <p:sp>
        <p:nvSpPr>
          <p:cNvPr id="7" name="Fluxograma: Conector 6">
            <a:extLst>
              <a:ext uri="{FF2B5EF4-FFF2-40B4-BE49-F238E27FC236}">
                <a16:creationId xmlns:a16="http://schemas.microsoft.com/office/drawing/2014/main" id="{E5151D82-B62C-0EAC-C284-E0C1F40536EF}"/>
              </a:ext>
            </a:extLst>
          </p:cNvPr>
          <p:cNvSpPr/>
          <p:nvPr/>
        </p:nvSpPr>
        <p:spPr>
          <a:xfrm>
            <a:off x="948558" y="2353194"/>
            <a:ext cx="567558" cy="54391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8" name="Fluxograma: Conector 7">
            <a:extLst>
              <a:ext uri="{FF2B5EF4-FFF2-40B4-BE49-F238E27FC236}">
                <a16:creationId xmlns:a16="http://schemas.microsoft.com/office/drawing/2014/main" id="{DF85A32B-4A20-83A7-787C-2D30CC96F438}"/>
              </a:ext>
            </a:extLst>
          </p:cNvPr>
          <p:cNvSpPr/>
          <p:nvPr/>
        </p:nvSpPr>
        <p:spPr>
          <a:xfrm>
            <a:off x="1098331" y="4328265"/>
            <a:ext cx="567558" cy="54391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56076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A8BC-9DAE-D1A5-BA8F-E54A12C8B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BEC27E-CB6E-81FC-1994-7275F1A47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B53D654-5A62-AB37-25DC-B74237FCF6A5}"/>
              </a:ext>
            </a:extLst>
          </p:cNvPr>
          <p:cNvSpPr txBox="1"/>
          <p:nvPr/>
        </p:nvSpPr>
        <p:spPr>
          <a:xfrm>
            <a:off x="8752114" y="1465943"/>
            <a:ext cx="2601686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Quando temos uma </a:t>
            </a:r>
            <a:r>
              <a:rPr lang="pt-BR" dirty="0" err="1"/>
              <a:t>tag</a:t>
            </a:r>
            <a:r>
              <a:rPr lang="pt-BR" dirty="0"/>
              <a:t> dentro de outra </a:t>
            </a:r>
            <a:r>
              <a:rPr lang="pt-BR" dirty="0" err="1"/>
              <a:t>tag</a:t>
            </a:r>
            <a:r>
              <a:rPr lang="pt-BR" dirty="0"/>
              <a:t>, o fechamento dessa </a:t>
            </a:r>
            <a:r>
              <a:rPr lang="pt-BR" dirty="0" err="1"/>
              <a:t>tag</a:t>
            </a:r>
            <a:r>
              <a:rPr lang="pt-BR" dirty="0"/>
              <a:t> se da adicionando o nome de abertura também.</a:t>
            </a:r>
          </a:p>
        </p:txBody>
      </p:sp>
      <p:pic>
        <p:nvPicPr>
          <p:cNvPr id="6" name="Espaço Reservado para Conteúdo 5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6D0A13C6-581A-1BEA-8B50-AFC769933D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219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1C0AF-2E32-A554-9338-4CE321829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33DBF-343E-5337-E254-DF86AC74B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4E2A7DF-909D-17A6-73F4-E070824FC697}"/>
              </a:ext>
            </a:extLst>
          </p:cNvPr>
          <p:cNvSpPr txBox="1"/>
          <p:nvPr/>
        </p:nvSpPr>
        <p:spPr>
          <a:xfrm>
            <a:off x="8752114" y="1465943"/>
            <a:ext cx="2601686" cy="4247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temos uma </a:t>
            </a:r>
            <a:r>
              <a:rPr lang="pt-BR" dirty="0" err="1"/>
              <a:t>tag</a:t>
            </a:r>
            <a:r>
              <a:rPr lang="pt-BR" dirty="0"/>
              <a:t>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LinearLayout</a:t>
            </a:r>
            <a:r>
              <a:rPr lang="pt-BR" dirty="0"/>
              <a:t>, com seus atributos, e dentro dela uma </a:t>
            </a:r>
            <a:r>
              <a:rPr lang="pt-BR" dirty="0" err="1"/>
              <a:t>tag</a:t>
            </a:r>
            <a:r>
              <a:rPr lang="pt-BR" dirty="0"/>
              <a:t>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TextView</a:t>
            </a:r>
            <a:r>
              <a:rPr lang="pt-BR" dirty="0"/>
              <a:t> com seus atributos. </a:t>
            </a:r>
          </a:p>
          <a:p>
            <a:r>
              <a:rPr lang="pt-BR" dirty="0"/>
              <a:t>Quando temos uma </a:t>
            </a:r>
            <a:r>
              <a:rPr lang="pt-BR" dirty="0" err="1"/>
              <a:t>tag</a:t>
            </a:r>
            <a:r>
              <a:rPr lang="pt-BR" dirty="0"/>
              <a:t> dentro de outra </a:t>
            </a:r>
            <a:r>
              <a:rPr lang="pt-BR" dirty="0" err="1"/>
              <a:t>tag</a:t>
            </a:r>
            <a:r>
              <a:rPr lang="pt-BR" dirty="0"/>
              <a:t>, o fechamento leva o nome da abertura também.</a:t>
            </a:r>
          </a:p>
          <a:p>
            <a:r>
              <a:rPr lang="pt-BR" dirty="0"/>
              <a:t>Atributos são características do elemento como largura, altura, tamanho de letra, cor de fundo etc.</a:t>
            </a:r>
          </a:p>
        </p:txBody>
      </p:sp>
      <p:pic>
        <p:nvPicPr>
          <p:cNvPr id="6" name="Espaço Reservado para Conteúdo 5" descr="Texto&#10;&#10;O conteúdo gerado por IA pode estar incorreto.">
            <a:extLst>
              <a:ext uri="{FF2B5EF4-FFF2-40B4-BE49-F238E27FC236}">
                <a16:creationId xmlns:a16="http://schemas.microsoft.com/office/drawing/2014/main" id="{CFB859CC-07B8-FBC9-9A85-5E37B7B80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502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746E8-CA7F-A3E9-042A-788B1F83A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7A642-B0FF-0FD1-B35C-6C26B3BF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0AA844C-B03C-848C-5D7F-202181DA7B87}"/>
              </a:ext>
            </a:extLst>
          </p:cNvPr>
          <p:cNvSpPr txBox="1"/>
          <p:nvPr/>
        </p:nvSpPr>
        <p:spPr>
          <a:xfrm>
            <a:off x="8752114" y="1465943"/>
            <a:ext cx="2601686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rodar no emulador, clicar no botão de play, e aguardar a construção do app.</a:t>
            </a:r>
          </a:p>
          <a:p>
            <a:r>
              <a:rPr lang="pt-BR" dirty="0"/>
              <a:t>Observar o progresso do andamento na barra azul abaixo.</a:t>
            </a:r>
          </a:p>
          <a:p>
            <a:r>
              <a:rPr lang="pt-BR" dirty="0"/>
              <a:t>A primeira vez que rodamos no emulador costuma demorar um pouco.</a:t>
            </a:r>
          </a:p>
        </p:txBody>
      </p:sp>
      <p:pic>
        <p:nvPicPr>
          <p:cNvPr id="6" name="Espaço Reservado para Conteúdo 5" descr="Texto&#10;&#10;O conteúdo gerado por IA pode estar incorreto.">
            <a:extLst>
              <a:ext uri="{FF2B5EF4-FFF2-40B4-BE49-F238E27FC236}">
                <a16:creationId xmlns:a16="http://schemas.microsoft.com/office/drawing/2014/main" id="{E1C20CB8-8B98-2837-E414-7C94574927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54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379D5-C14F-F994-C78F-DA197DC9E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CCBC46-508D-BE68-D8AC-9857B1982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D6EC9E1-0885-6455-9C55-B7FE6244BBDA}"/>
              </a:ext>
            </a:extLst>
          </p:cNvPr>
          <p:cNvSpPr txBox="1"/>
          <p:nvPr/>
        </p:nvSpPr>
        <p:spPr>
          <a:xfrm>
            <a:off x="8752114" y="1465943"/>
            <a:ext cx="260168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99B0BCA-CBAA-719B-468B-BCB3DE195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 descr="Gráfico, Gráfico de mapa de árvore&#10;&#10;O conteúdo gerado por IA pode estar incorreto.">
            <a:extLst>
              <a:ext uri="{FF2B5EF4-FFF2-40B4-BE49-F238E27FC236}">
                <a16:creationId xmlns:a16="http://schemas.microsoft.com/office/drawing/2014/main" id="{143C6D82-092A-1BF8-1E18-C1810C497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91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BA826-BEB4-8FC5-CBEF-910CC584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DD15C0-F4C2-63CC-9E0F-24380AF7C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C9EE4B5-D837-6AF2-9001-DB5A3C6F0CBE}"/>
              </a:ext>
            </a:extLst>
          </p:cNvPr>
          <p:cNvSpPr txBox="1"/>
          <p:nvPr/>
        </p:nvSpPr>
        <p:spPr>
          <a:xfrm>
            <a:off x="8752114" y="889843"/>
            <a:ext cx="2601686" cy="50783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Estrutura de um projeto </a:t>
            </a:r>
            <a:r>
              <a:rPr lang="pt-BR" dirty="0" err="1"/>
              <a:t>java</a:t>
            </a:r>
            <a:r>
              <a:rPr lang="pt-BR" dirty="0"/>
              <a:t>.</a:t>
            </a:r>
          </a:p>
          <a:p>
            <a:r>
              <a:rPr lang="pt-BR" dirty="0"/>
              <a:t>Temos aqui uma classe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ContaTeste</a:t>
            </a:r>
            <a:r>
              <a:rPr lang="pt-BR" dirty="0"/>
              <a:t> que tem dentro dele um método </a:t>
            </a:r>
            <a:r>
              <a:rPr lang="pt-BR" dirty="0" err="1"/>
              <a:t>main</a:t>
            </a:r>
            <a:r>
              <a:rPr lang="pt-BR" dirty="0"/>
              <a:t>.</a:t>
            </a:r>
          </a:p>
          <a:p>
            <a:r>
              <a:rPr lang="pt-BR" dirty="0"/>
              <a:t>Todo programa </a:t>
            </a:r>
            <a:r>
              <a:rPr lang="pt-BR" dirty="0" err="1"/>
              <a:t>java</a:t>
            </a:r>
            <a:r>
              <a:rPr lang="pt-BR" dirty="0"/>
              <a:t> precisa ter um método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</a:t>
            </a:r>
            <a:r>
              <a:rPr lang="pt-BR" dirty="0"/>
              <a:t>.</a:t>
            </a:r>
          </a:p>
          <a:p>
            <a:r>
              <a:rPr lang="pt-BR" dirty="0"/>
              <a:t>É dentro do </a:t>
            </a:r>
            <a:r>
              <a:rPr lang="pt-BR" dirty="0" err="1"/>
              <a:t>main</a:t>
            </a:r>
            <a:r>
              <a:rPr lang="pt-BR" dirty="0"/>
              <a:t> que </a:t>
            </a:r>
            <a:r>
              <a:rPr lang="pt-BR" dirty="0" err="1"/>
              <a:t>startamos</a:t>
            </a:r>
            <a:r>
              <a:rPr lang="pt-BR" dirty="0"/>
              <a:t> todo o código.</a:t>
            </a:r>
          </a:p>
          <a:p>
            <a:r>
              <a:rPr lang="pt-BR" dirty="0"/>
              <a:t>Aqui no projeto um exemplo de uma classe Conta sendo instanciada e mostrando o nome do cliente </a:t>
            </a:r>
          </a:p>
        </p:txBody>
      </p:sp>
      <p:pic>
        <p:nvPicPr>
          <p:cNvPr id="6" name="Espaço Reservado para Conteúdo 5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DDAE177-1E63-360A-7518-5D14D5D167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468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63FE8-489F-F0C9-FF4F-C7CE13374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A78D68-B226-4B3D-774A-AB5CF97D5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3D74810-FE99-B8EE-3273-E130B530A206}"/>
              </a:ext>
            </a:extLst>
          </p:cNvPr>
          <p:cNvSpPr txBox="1"/>
          <p:nvPr/>
        </p:nvSpPr>
        <p:spPr>
          <a:xfrm>
            <a:off x="8752114" y="1465943"/>
            <a:ext cx="2601686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No </a:t>
            </a:r>
            <a:r>
              <a:rPr lang="pt-BR" dirty="0" err="1"/>
              <a:t>android</a:t>
            </a:r>
            <a:r>
              <a:rPr lang="pt-BR" dirty="0"/>
              <a:t>, temos um arquivo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MainActivity</a:t>
            </a:r>
            <a:r>
              <a:rPr lang="pt-BR" dirty="0"/>
              <a:t>, e dentro dele o método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onCreate</a:t>
            </a:r>
            <a:r>
              <a:rPr lang="pt-BR" dirty="0"/>
              <a:t>() onde </a:t>
            </a:r>
            <a:r>
              <a:rPr lang="pt-BR" dirty="0" err="1"/>
              <a:t>startamos</a:t>
            </a:r>
            <a:r>
              <a:rPr lang="pt-BR" dirty="0"/>
              <a:t> todos os outros </a:t>
            </a:r>
            <a:r>
              <a:rPr lang="pt-BR" dirty="0" err="1"/>
              <a:t>metodos</a:t>
            </a:r>
            <a:r>
              <a:rPr lang="pt-BR" dirty="0"/>
              <a:t>.. </a:t>
            </a:r>
          </a:p>
          <a:p>
            <a:r>
              <a:rPr lang="pt-BR" dirty="0"/>
              <a:t>É bem parecido com o </a:t>
            </a:r>
            <a:r>
              <a:rPr lang="pt-BR" dirty="0" err="1"/>
              <a:t>java</a:t>
            </a:r>
            <a:r>
              <a:rPr lang="pt-BR" dirty="0"/>
              <a:t>.  </a:t>
            </a:r>
          </a:p>
          <a:p>
            <a:r>
              <a:rPr lang="pt-BR" dirty="0"/>
              <a:t>Essa classe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MainActivity</a:t>
            </a:r>
            <a:r>
              <a:rPr lang="pt-BR" dirty="0"/>
              <a:t> está herdando de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AppCompatActivity</a:t>
            </a:r>
            <a:r>
              <a:rPr lang="pt-BR" dirty="0"/>
              <a:t>.</a:t>
            </a:r>
          </a:p>
          <a:p>
            <a:r>
              <a:rPr lang="pt-BR" dirty="0"/>
              <a:t>No </a:t>
            </a:r>
            <a:r>
              <a:rPr lang="pt-BR" dirty="0" err="1"/>
              <a:t>java</a:t>
            </a:r>
            <a:r>
              <a:rPr lang="pt-BR" dirty="0"/>
              <a:t> para herdar usamos a palavra </a:t>
            </a:r>
            <a:r>
              <a:rPr lang="pt-BR" dirty="0" err="1"/>
              <a:t>extends</a:t>
            </a:r>
            <a:r>
              <a:rPr lang="pt-BR" dirty="0"/>
              <a:t>. No </a:t>
            </a:r>
            <a:r>
              <a:rPr lang="pt-BR" dirty="0" err="1"/>
              <a:t>kotlin</a:t>
            </a:r>
            <a:r>
              <a:rPr lang="pt-BR" dirty="0"/>
              <a:t> substituímos pelos dois pontos :</a:t>
            </a:r>
          </a:p>
        </p:txBody>
      </p:sp>
      <p:pic>
        <p:nvPicPr>
          <p:cNvPr id="6" name="Espaço Reservado para Conteúdo 5" descr="Texto&#10;&#10;O conteúdo gerado por IA pode estar incorreto.">
            <a:extLst>
              <a:ext uri="{FF2B5EF4-FFF2-40B4-BE49-F238E27FC236}">
                <a16:creationId xmlns:a16="http://schemas.microsoft.com/office/drawing/2014/main" id="{052B58A8-447E-65ED-9914-288FF34D4C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36888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2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CA19B-544E-0A52-C29C-A187B5AEA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7C749-4F7E-90AA-D846-1FD6973B8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591826A-FF0A-CE83-5D3B-38A0DCAB4283}"/>
              </a:ext>
            </a:extLst>
          </p:cNvPr>
          <p:cNvSpPr txBox="1"/>
          <p:nvPr/>
        </p:nvSpPr>
        <p:spPr>
          <a:xfrm>
            <a:off x="8752114" y="1465943"/>
            <a:ext cx="2601686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Esses </a:t>
            </a:r>
            <a:r>
              <a:rPr lang="pt-BR" dirty="0" err="1"/>
              <a:t>metodos</a:t>
            </a:r>
            <a:r>
              <a:rPr lang="pt-BR" dirty="0"/>
              <a:t>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onCreate</a:t>
            </a:r>
            <a:r>
              <a:rPr lang="pt-BR" dirty="0"/>
              <a:t>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setContentView</a:t>
            </a:r>
            <a:r>
              <a:rPr lang="pt-BR" dirty="0"/>
              <a:t> e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enableEdgeToEdge</a:t>
            </a:r>
            <a:r>
              <a:rPr lang="pt-BR" dirty="0"/>
              <a:t> estão declarados </a:t>
            </a:r>
            <a:r>
              <a:rPr lang="pt-BR" dirty="0" err="1"/>
              <a:t>la</a:t>
            </a:r>
            <a:r>
              <a:rPr lang="pt-BR" dirty="0"/>
              <a:t> na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AppCompatActivity</a:t>
            </a:r>
            <a:r>
              <a:rPr lang="pt-BR" dirty="0"/>
              <a:t>.</a:t>
            </a:r>
          </a:p>
          <a:p>
            <a:r>
              <a:rPr lang="pt-BR" dirty="0"/>
              <a:t>Aqui estamos usando esses </a:t>
            </a:r>
            <a:r>
              <a:rPr lang="pt-BR" dirty="0" err="1"/>
              <a:t>metodos</a:t>
            </a:r>
            <a:r>
              <a:rPr lang="pt-BR" dirty="0"/>
              <a:t> por causa da herança.</a:t>
            </a:r>
          </a:p>
          <a:p>
            <a:endParaRPr lang="pt-BR" dirty="0"/>
          </a:p>
        </p:txBody>
      </p:sp>
      <p:pic>
        <p:nvPicPr>
          <p:cNvPr id="6" name="Espaço Reservado para Conteúdo 5" descr="Texto&#10;&#10;O conteúdo gerado por IA pode estar incorreto.">
            <a:extLst>
              <a:ext uri="{FF2B5EF4-FFF2-40B4-BE49-F238E27FC236}">
                <a16:creationId xmlns:a16="http://schemas.microsoft.com/office/drawing/2014/main" id="{DB0A635C-78B8-9D6C-F315-79DE75245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36888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8455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329B-2404-E67E-1780-EBDEF4029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DD4C81-9FB2-1851-62FC-9E2B52446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C38493-708E-E8B8-747F-7E32BED40D14}"/>
              </a:ext>
            </a:extLst>
          </p:cNvPr>
          <p:cNvSpPr txBox="1"/>
          <p:nvPr/>
        </p:nvSpPr>
        <p:spPr>
          <a:xfrm>
            <a:off x="8752114" y="1465943"/>
            <a:ext cx="2601686" cy="3416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Ao </a:t>
            </a:r>
            <a:r>
              <a:rPr lang="pt-BR" dirty="0" err="1"/>
              <a:t>startarmos</a:t>
            </a:r>
            <a:r>
              <a:rPr lang="pt-BR" dirty="0"/>
              <a:t> o app, o método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onCreate</a:t>
            </a:r>
            <a:r>
              <a:rPr lang="pt-BR" dirty="0"/>
              <a:t> roda.</a:t>
            </a:r>
          </a:p>
          <a:p>
            <a:r>
              <a:rPr lang="pt-BR" dirty="0"/>
              <a:t>E dentro dele temos 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setContentView</a:t>
            </a:r>
            <a:r>
              <a:rPr lang="pt-BR" dirty="0"/>
              <a:t> com o parâmetro (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R.layout.activity_main</a:t>
            </a:r>
            <a:r>
              <a:rPr lang="pt-BR" dirty="0"/>
              <a:t>).</a:t>
            </a:r>
          </a:p>
          <a:p>
            <a:r>
              <a:rPr lang="pt-BR" dirty="0"/>
              <a:t>Esse método vai na pasta res e abre 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activity_main</a:t>
            </a:r>
            <a:r>
              <a:rPr lang="pt-BR" dirty="0"/>
              <a:t>, que desenha a tela.</a:t>
            </a:r>
          </a:p>
          <a:p>
            <a:r>
              <a:rPr lang="pt-BR" dirty="0"/>
              <a:t>É assim que o app sabe qual tela tem que abrir</a:t>
            </a:r>
          </a:p>
        </p:txBody>
      </p:sp>
      <p:pic>
        <p:nvPicPr>
          <p:cNvPr id="8" name="Espaço Reservado para Conteúdo 7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D2CDCDD-09F6-6329-ACC9-B39E404584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59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383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EC8FA-E307-DEC7-B097-4B2ED5D36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16086EB-7609-7A49-6F7E-72325F2B738A}"/>
              </a:ext>
            </a:extLst>
          </p:cNvPr>
          <p:cNvSpPr/>
          <p:nvPr/>
        </p:nvSpPr>
        <p:spPr>
          <a:xfrm>
            <a:off x="4141075" y="2719551"/>
            <a:ext cx="3909849" cy="14188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Fabio Claret</a:t>
            </a:r>
          </a:p>
        </p:txBody>
      </p:sp>
    </p:spTree>
    <p:extLst>
      <p:ext uri="{BB962C8B-B14F-4D97-AF65-F5344CB8AC3E}">
        <p14:creationId xmlns:p14="http://schemas.microsoft.com/office/powerpoint/2010/main" val="2214302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790</Words>
  <Application>Microsoft Office PowerPoint</Application>
  <PresentationFormat>Widescreen</PresentationFormat>
  <Paragraphs>79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Tema do Office</vt:lpstr>
      <vt:lpstr>Estrutura de um projeto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CLARET TRIGO DE OLIVEIRA</dc:creator>
  <cp:lastModifiedBy>FABIO CLARET TRIGO DE OLIVEIRA</cp:lastModifiedBy>
  <cp:revision>6</cp:revision>
  <dcterms:created xsi:type="dcterms:W3CDTF">2026-01-05T09:03:21Z</dcterms:created>
  <dcterms:modified xsi:type="dcterms:W3CDTF">2026-02-12T11:49:04Z</dcterms:modified>
</cp:coreProperties>
</file>